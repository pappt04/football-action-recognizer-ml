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B8EA-1273-8334-06BB-CC92EEBDD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30737-E37C-8EC9-A5B9-E6B20E1E3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0AFBD-65C3-D0EC-8789-EAF2A0971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B1C87-9454-0639-F97B-3EDD29C0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C9C7B-71EE-C683-C203-0506C4F3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95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9A1D-4DD1-5BB4-D8BC-5949DC7B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2E44-DAF1-F310-6700-80D79F965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F5C55-EB1B-F646-4702-A22CBAB34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8FF9F-95B9-11D4-3AB7-83D5F77A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4014C-6D8E-40FB-8324-A1D4D905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037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1A6F-D482-C3F0-3FF6-252BF3D0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0C8A-94AD-B44A-459D-A327B7471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0F565-A2F8-4697-8F63-8103B4E7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ECEC8-25A2-CE1D-FF4B-9597ACE8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264BB-8E51-30B9-6107-55C8B071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333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21E1-0441-0839-4EEE-EF0B331A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80495-F3B1-D732-11A6-BEF34107F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0DB5D-9F7B-5873-65D3-0CEDF398A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3BF9A-02FD-E022-5487-4F671F56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6DF7F-2718-BA54-4DCA-50DF201C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7FBDF-8AA7-3A73-76B9-C35F7528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937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ADBA-451C-96F3-3F3F-0CA04B1D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F231F-5673-FEB1-AFBB-788B451BC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77FA5-8F9A-02FD-404F-239F16BEC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6877A-608F-B4BB-EB9B-72CDA05E6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6666F-CD3C-1D57-9B56-A6A6230F7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3AED6-EB6A-12FB-3E22-A425CCF8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4202B-1EE3-F24B-5923-857C8F7C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168F56-3CE7-B24C-0C40-FC6DDEBC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14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194E6-3B7D-DD95-ACBB-A8C0B5FE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03B11-A57A-BF11-5559-C7C0A89C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EF82E-3D08-FE4C-738F-700B50374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DAAA8-1333-B694-BB69-91A0D705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445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B7152-A3B8-D7BB-CB0F-CC99F888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5F138-3668-B0C6-56CB-E3D08883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04D4A-6F96-A95C-6DE6-4BDD335D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982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D9A4-B6E1-FF8D-B3FB-3D497F3B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ABBC-800C-0D11-F533-E185E1851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47F55-4D54-2109-4C80-27584E478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A4CAD-5E9D-427D-EF3F-F1532E2D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B2D59-D62C-BAD4-4F9C-AB33B765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D6071-1FD6-0FF2-C86E-9406444BD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311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D0849-6D79-27E7-A410-A2EB8737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5AD75-FA5F-6F55-5406-CB50631A2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5994F-D552-4D1F-5CBC-91F12769B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98151-AE4B-4B3B-D618-D800B567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5CE83-E924-13FB-2DE3-0C952B9B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6EA7-E9AC-A68E-5C7C-CEE282BB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384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06A1-C8C5-6109-58E2-70867A75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3CE44-46B9-7B8C-610D-334507566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5FE10-98ED-D475-2C6D-F1FB622B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7C141-05AB-CAD8-6478-2A24E6277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CF270-53DF-87A6-A03B-25A37F7B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992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DC81B-F241-04B4-D125-EFE4DFE69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974D7-5459-5F41-E76A-E3D73858D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8DE21-33BD-9A16-2A17-6E5F9023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6529C-859A-2A92-80F4-38558C89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B9F51-1B8E-EB49-3AA3-FF67BA2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716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373FD-F34D-95BB-33DB-6F2ED1EDF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18CE7-A0E7-4490-B400-1DB80FDD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39B13-79D0-47F4-92DC-3700DE034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37E9E-B65A-42E1-847E-2FB32334E655}" type="datetimeFigureOut">
              <a:rPr lang="hu-HU" smtClean="0"/>
              <a:t>2026. 02. 26.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0C2E1-0820-3551-D098-0A2AE204E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E612E-D93A-8B12-F523-CF664DE26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D4A3E-C4B5-452A-AADE-C451452D3AD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02137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C9CA2A-EB48-5535-BFEC-F28113CF3442}"/>
              </a:ext>
            </a:extLst>
          </p:cNvPr>
          <p:cNvSpPr/>
          <p:nvPr/>
        </p:nvSpPr>
        <p:spPr>
          <a:xfrm>
            <a:off x="0" y="0"/>
            <a:ext cx="12192000" cy="17282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E89FB-1EF2-00DE-A3B2-C294EB3B7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25" y="371965"/>
            <a:ext cx="1073507" cy="10218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75432B-B5FC-D55B-6523-63FD56446497}"/>
              </a:ext>
            </a:extLst>
          </p:cNvPr>
          <p:cNvSpPr txBox="1"/>
          <p:nvPr/>
        </p:nvSpPr>
        <p:spPr>
          <a:xfrm>
            <a:off x="1048512" y="9144"/>
            <a:ext cx="10094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5400" noProof="0" dirty="0"/>
              <a:t>Detekcija akcije u fudbalu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61B99-37F2-DD69-BC56-4F8E60E0F294}"/>
              </a:ext>
            </a:extLst>
          </p:cNvPr>
          <p:cNvSpPr txBox="1"/>
          <p:nvPr/>
        </p:nvSpPr>
        <p:spPr>
          <a:xfrm>
            <a:off x="4053839" y="941618"/>
            <a:ext cx="393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Stefan </a:t>
            </a:r>
            <a:r>
              <a:rPr lang="en-US" dirty="0" err="1"/>
              <a:t>Paunov</a:t>
            </a:r>
            <a:r>
              <a:rPr lang="sr-Latn-RS" dirty="0" err="1"/>
              <a:t>ić</a:t>
            </a:r>
            <a:r>
              <a:rPr lang="sr-Latn-RS" dirty="0"/>
              <a:t>	RA-27-2022</a:t>
            </a:r>
          </a:p>
          <a:p>
            <a:r>
              <a:rPr lang="sr-Latn-RS" dirty="0"/>
              <a:t>Papp    Tamás	RA-4-2022</a:t>
            </a:r>
            <a:endParaRPr lang="hu-HU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D86D0A-972A-C00C-CE0E-CBCEDE6CB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1756674"/>
            <a:ext cx="3698289" cy="5092181"/>
          </a:xfrm>
        </p:spPr>
        <p:txBody>
          <a:bodyPr/>
          <a:lstStyle/>
          <a:p>
            <a:pPr marL="0" indent="0" algn="ctr">
              <a:buNone/>
            </a:pPr>
            <a:r>
              <a:rPr lang="sr-Latn-RS" u="sng" noProof="0" dirty="0"/>
              <a:t>UVOD</a:t>
            </a:r>
            <a:endParaRPr lang="sr-Latn-RS" sz="2000" u="sng" noProof="0" dirty="0"/>
          </a:p>
          <a:p>
            <a:pPr marL="0" indent="0" algn="ctr">
              <a:buNone/>
            </a:pPr>
            <a:r>
              <a:rPr lang="sr-Latn-RS" sz="1800" noProof="0" dirty="0"/>
              <a:t>U ovom projektu smo bavili smo se sa detekcijom fudbal akcija na video snimcima. </a:t>
            </a:r>
            <a:r>
              <a:rPr lang="sr-Latn-RS" sz="1800" dirty="0"/>
              <a:t>Za izradu ovog projekta koristili smo </a:t>
            </a:r>
            <a:r>
              <a:rPr lang="sr-Latn-RS" sz="1800" dirty="0" err="1"/>
              <a:t>Python</a:t>
            </a:r>
            <a:r>
              <a:rPr lang="sr-Latn-RS" sz="1800" dirty="0"/>
              <a:t> i biblioteku </a:t>
            </a:r>
            <a:r>
              <a:rPr lang="sr-Latn-RS" sz="1800" dirty="0" err="1"/>
              <a:t>Tensorflow</a:t>
            </a:r>
            <a:r>
              <a:rPr lang="sr-Latn-RS" sz="1800" dirty="0"/>
              <a:t>.</a:t>
            </a:r>
          </a:p>
          <a:p>
            <a:pPr marL="0" indent="0" algn="ctr">
              <a:buNone/>
            </a:pPr>
            <a:r>
              <a:rPr lang="sr-Latn-RS" sz="1800" dirty="0"/>
              <a:t>Razlikujemo klase:</a:t>
            </a:r>
          </a:p>
          <a:p>
            <a:pPr marL="0" indent="0" algn="ctr">
              <a:buNone/>
            </a:pPr>
            <a:r>
              <a:rPr lang="sr-Latn-RS" sz="1800" dirty="0"/>
              <a:t>Gol, Pokušaj na gol, slobodni udarac, ofsajd, karton, igra</a:t>
            </a:r>
          </a:p>
          <a:p>
            <a:pPr marL="0" indent="0" algn="ctr">
              <a:buNone/>
            </a:pPr>
            <a:r>
              <a:rPr lang="sr-Latn-RS" u="sng" dirty="0"/>
              <a:t>DATASET</a:t>
            </a:r>
          </a:p>
          <a:p>
            <a:pPr marL="0" indent="0" algn="ctr">
              <a:buNone/>
            </a:pPr>
            <a:r>
              <a:rPr lang="sr-Latn-RS" sz="1800" dirty="0"/>
              <a:t>Koristili smo </a:t>
            </a:r>
            <a:r>
              <a:rPr lang="sr-Latn-RS" sz="1800" dirty="0" err="1"/>
              <a:t>dataset</a:t>
            </a:r>
            <a:r>
              <a:rPr lang="sr-Latn-RS" sz="1800" dirty="0"/>
              <a:t> od ~1900 slika sa podelom 70</a:t>
            </a:r>
            <a:r>
              <a:rPr lang="sr-Latn-RS" sz="1800" noProof="0" dirty="0"/>
              <a:t>% za trening skup 15% za </a:t>
            </a:r>
            <a:r>
              <a:rPr lang="sr-Latn-RS" sz="1800" noProof="0" dirty="0" err="1"/>
              <a:t>validaciju</a:t>
            </a:r>
            <a:r>
              <a:rPr lang="sr-Latn-RS" sz="1800" noProof="0" dirty="0"/>
              <a:t> i 15% za test skup. Gde distribucija klase u skupu je igra 35% i golovi 29%.  </a:t>
            </a:r>
            <a:endParaRPr lang="sr-Latn-RS" sz="18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FB23B04-C92B-42F0-5224-8F8D319C8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74695" y="1728217"/>
            <a:ext cx="3698289" cy="2002536"/>
          </a:xfrm>
        </p:spPr>
        <p:txBody>
          <a:bodyPr/>
          <a:lstStyle/>
          <a:p>
            <a:pPr marL="0" indent="0" algn="ctr">
              <a:buNone/>
            </a:pPr>
            <a:r>
              <a:rPr lang="sr-Latn-RS" noProof="0" dirty="0"/>
              <a:t>Metodologija</a:t>
            </a:r>
            <a:endParaRPr lang="sr-Latn-RS" dirty="0"/>
          </a:p>
          <a:p>
            <a:pPr marL="0" indent="0" algn="ctr">
              <a:buNone/>
            </a:pPr>
            <a:r>
              <a:rPr lang="sr-Latn-RS" sz="1800" dirty="0"/>
              <a:t>Koristimo slike dimenzije 224x224 </a:t>
            </a:r>
            <a:r>
              <a:rPr lang="sr-Latn-RS" sz="1800" dirty="0" err="1"/>
              <a:t>pixela</a:t>
            </a:r>
            <a:endParaRPr lang="sr-Latn-RS" sz="1800" dirty="0"/>
          </a:p>
          <a:p>
            <a:pPr marL="0" indent="0" algn="ctr">
              <a:buNone/>
            </a:pPr>
            <a:r>
              <a:rPr lang="sr-Latn-RS" sz="1800" dirty="0"/>
              <a:t>Normalizujemo i standardizujemo slike </a:t>
            </a:r>
            <a:endParaRPr lang="sr-Latn-RS" sz="1800" noProof="0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FF9F8DFF-8358-A667-BFA2-128988A5B518}"/>
              </a:ext>
            </a:extLst>
          </p:cNvPr>
          <p:cNvSpPr txBox="1">
            <a:spLocks/>
          </p:cNvSpPr>
          <p:nvPr/>
        </p:nvSpPr>
        <p:spPr>
          <a:xfrm>
            <a:off x="8493711" y="1728216"/>
            <a:ext cx="3698289" cy="5129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hu-HU" dirty="0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E58F3184-2BF7-C1AF-8F71-BDC8B53D8EAC}"/>
              </a:ext>
            </a:extLst>
          </p:cNvPr>
          <p:cNvSpPr/>
          <p:nvPr/>
        </p:nvSpPr>
        <p:spPr>
          <a:xfrm>
            <a:off x="4613871" y="3626735"/>
            <a:ext cx="2819934" cy="32232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(224x224x3)</a:t>
            </a:r>
            <a:endParaRPr lang="hu-HU" dirty="0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57B274D7-CE0F-ECAD-66F2-5FDF6FFF2D28}"/>
              </a:ext>
            </a:extLst>
          </p:cNvPr>
          <p:cNvSpPr/>
          <p:nvPr/>
        </p:nvSpPr>
        <p:spPr>
          <a:xfrm>
            <a:off x="4613871" y="6329941"/>
            <a:ext cx="2819933" cy="322330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400" dirty="0"/>
              <a:t>Output </a:t>
            </a:r>
            <a:r>
              <a:rPr lang="hu-HU" sz="1400" dirty="0" err="1"/>
              <a:t>Layer</a:t>
            </a:r>
            <a:r>
              <a:rPr lang="hu-HU" sz="1400" dirty="0"/>
              <a:t> (6 </a:t>
            </a:r>
            <a:r>
              <a:rPr lang="hu-HU" sz="1400" dirty="0" err="1"/>
              <a:t>neurons</a:t>
            </a:r>
            <a:r>
              <a:rPr lang="hu-HU" sz="1400" dirty="0"/>
              <a:t>, </a:t>
            </a:r>
            <a:r>
              <a:rPr lang="hu-HU" sz="1400" dirty="0" err="1"/>
              <a:t>Softmax</a:t>
            </a:r>
            <a:r>
              <a:rPr lang="hu-HU" sz="1400" dirty="0"/>
              <a:t>)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C2C8CC64-6442-9B77-1432-605186F388E8}"/>
              </a:ext>
            </a:extLst>
          </p:cNvPr>
          <p:cNvSpPr/>
          <p:nvPr/>
        </p:nvSpPr>
        <p:spPr>
          <a:xfrm>
            <a:off x="4613871" y="5789299"/>
            <a:ext cx="2819934" cy="322330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Dropout (0.5)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2B0DC966-3878-2CD7-FE93-4FDAA734FBB7}"/>
              </a:ext>
            </a:extLst>
          </p:cNvPr>
          <p:cNvSpPr/>
          <p:nvPr/>
        </p:nvSpPr>
        <p:spPr>
          <a:xfrm>
            <a:off x="4613872" y="4167376"/>
            <a:ext cx="2819933" cy="32232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EfficientNetB0 </a:t>
            </a:r>
            <a:r>
              <a:rPr lang="hu-HU" dirty="0" err="1"/>
              <a:t>Backbone</a:t>
            </a:r>
            <a:endParaRPr lang="hu-HU" dirty="0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7C7C815E-6B45-2B2E-85B9-ED39A6F5C9F5}"/>
              </a:ext>
            </a:extLst>
          </p:cNvPr>
          <p:cNvSpPr/>
          <p:nvPr/>
        </p:nvSpPr>
        <p:spPr>
          <a:xfrm>
            <a:off x="4613871" y="4708017"/>
            <a:ext cx="2819934" cy="32232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Global </a:t>
            </a:r>
            <a:r>
              <a:rPr lang="hu-HU" dirty="0" err="1"/>
              <a:t>Average</a:t>
            </a:r>
            <a:r>
              <a:rPr lang="hu-HU" dirty="0"/>
              <a:t> </a:t>
            </a:r>
            <a:r>
              <a:rPr lang="hu-HU" dirty="0" err="1"/>
              <a:t>Pooling</a:t>
            </a:r>
            <a:r>
              <a:rPr lang="hu-HU" dirty="0"/>
              <a:t> 2D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2400ECBE-1301-21F4-8702-988B93AF0D2B}"/>
              </a:ext>
            </a:extLst>
          </p:cNvPr>
          <p:cNvSpPr/>
          <p:nvPr/>
        </p:nvSpPr>
        <p:spPr>
          <a:xfrm>
            <a:off x="4613871" y="5248658"/>
            <a:ext cx="2819934" cy="322329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Dense Layer (256 </a:t>
            </a:r>
            <a:r>
              <a:rPr lang="fr-FR" sz="1400" dirty="0" err="1"/>
              <a:t>neurons,ReLU</a:t>
            </a:r>
            <a:r>
              <a:rPr lang="fr-FR" sz="1400" dirty="0"/>
              <a:t>)</a:t>
            </a:r>
            <a:endParaRPr lang="hu-HU" sz="14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382FDE0-5501-5C85-38ED-05E588832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56998"/>
              </p:ext>
            </p:extLst>
          </p:nvPr>
        </p:nvGraphicFramePr>
        <p:xfrm>
          <a:off x="8054532" y="2141979"/>
          <a:ext cx="4004004" cy="16459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34668">
                  <a:extLst>
                    <a:ext uri="{9D8B030D-6E8A-4147-A177-3AD203B41FA5}">
                      <a16:colId xmlns:a16="http://schemas.microsoft.com/office/drawing/2014/main" val="3378340173"/>
                    </a:ext>
                  </a:extLst>
                </a:gridCol>
                <a:gridCol w="1334668">
                  <a:extLst>
                    <a:ext uri="{9D8B030D-6E8A-4147-A177-3AD203B41FA5}">
                      <a16:colId xmlns:a16="http://schemas.microsoft.com/office/drawing/2014/main" val="1089512730"/>
                    </a:ext>
                  </a:extLst>
                </a:gridCol>
                <a:gridCol w="1334668">
                  <a:extLst>
                    <a:ext uri="{9D8B030D-6E8A-4147-A177-3AD203B41FA5}">
                      <a16:colId xmlns:a16="http://schemas.microsoft.com/office/drawing/2014/main" val="800298217"/>
                    </a:ext>
                  </a:extLst>
                </a:gridCol>
              </a:tblGrid>
              <a:tr h="353541">
                <a:tc>
                  <a:txBody>
                    <a:bodyPr/>
                    <a:lstStyle/>
                    <a:p>
                      <a:r>
                        <a:rPr lang="en-US" dirty="0" err="1"/>
                        <a:t>Metrika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Cilj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Dostignut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908287"/>
                  </a:ext>
                </a:extLst>
              </a:tr>
              <a:tr h="618697">
                <a:tc>
                  <a:txBody>
                    <a:bodyPr/>
                    <a:lstStyle/>
                    <a:p>
                      <a:r>
                        <a:rPr lang="hu-HU" dirty="0"/>
                        <a:t>Top-</a:t>
                      </a:r>
                      <a:r>
                        <a:rPr lang="en-US" dirty="0"/>
                        <a:t>1 </a:t>
                      </a:r>
                      <a:r>
                        <a:rPr lang="hu-HU" dirty="0" err="1"/>
                        <a:t>Accuracy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&gt;75%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81.25%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536388"/>
                  </a:ext>
                </a:extLst>
              </a:tr>
              <a:tr h="618697">
                <a:tc>
                  <a:txBody>
                    <a:bodyPr/>
                    <a:lstStyle/>
                    <a:p>
                      <a:r>
                        <a:rPr lang="hu-HU" dirty="0" err="1"/>
                        <a:t>Weighted</a:t>
                      </a:r>
                      <a:r>
                        <a:rPr lang="hu-HU" dirty="0"/>
                        <a:t>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&gt;0.72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73924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74BB814-B4D8-3A35-6C5C-5CA946DE0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246075"/>
              </p:ext>
            </p:extLst>
          </p:nvPr>
        </p:nvGraphicFramePr>
        <p:xfrm>
          <a:off x="8054531" y="3833579"/>
          <a:ext cx="4004005" cy="283015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00801">
                  <a:extLst>
                    <a:ext uri="{9D8B030D-6E8A-4147-A177-3AD203B41FA5}">
                      <a16:colId xmlns:a16="http://schemas.microsoft.com/office/drawing/2014/main" val="2804352964"/>
                    </a:ext>
                  </a:extLst>
                </a:gridCol>
                <a:gridCol w="800801">
                  <a:extLst>
                    <a:ext uri="{9D8B030D-6E8A-4147-A177-3AD203B41FA5}">
                      <a16:colId xmlns:a16="http://schemas.microsoft.com/office/drawing/2014/main" val="2151025397"/>
                    </a:ext>
                  </a:extLst>
                </a:gridCol>
                <a:gridCol w="800801">
                  <a:extLst>
                    <a:ext uri="{9D8B030D-6E8A-4147-A177-3AD203B41FA5}">
                      <a16:colId xmlns:a16="http://schemas.microsoft.com/office/drawing/2014/main" val="1804218884"/>
                    </a:ext>
                  </a:extLst>
                </a:gridCol>
                <a:gridCol w="800801">
                  <a:extLst>
                    <a:ext uri="{9D8B030D-6E8A-4147-A177-3AD203B41FA5}">
                      <a16:colId xmlns:a16="http://schemas.microsoft.com/office/drawing/2014/main" val="2338237137"/>
                    </a:ext>
                  </a:extLst>
                </a:gridCol>
                <a:gridCol w="800801">
                  <a:extLst>
                    <a:ext uri="{9D8B030D-6E8A-4147-A177-3AD203B41FA5}">
                      <a16:colId xmlns:a16="http://schemas.microsoft.com/office/drawing/2014/main" val="1246779796"/>
                    </a:ext>
                  </a:extLst>
                </a:gridCol>
              </a:tblGrid>
              <a:tr h="696557">
                <a:tc>
                  <a:txBody>
                    <a:bodyPr/>
                    <a:lstStyle/>
                    <a:p>
                      <a:r>
                        <a:rPr lang="en-US" sz="1600" dirty="0" err="1"/>
                        <a:t>Klasa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Preciznost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Recall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F1-score 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Support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062400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r>
                        <a:rPr lang="sr-Latn-RS" sz="1200" dirty="0"/>
                        <a:t>Gol</a:t>
                      </a:r>
                      <a:endParaRPr lang="hu-H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0.76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0.87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0.81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819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56017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r>
                        <a:rPr lang="sr-Latn-RS" sz="1200" dirty="0"/>
                        <a:t>Pokušaj</a:t>
                      </a:r>
                      <a:endParaRPr lang="hu-H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0.86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0.83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229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33860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r>
                        <a:rPr lang="sr-Latn-RS" sz="1200" dirty="0"/>
                        <a:t>Slobodni udarac</a:t>
                      </a:r>
                      <a:endParaRPr lang="hu-H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0.74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0.76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0.75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450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33598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r>
                        <a:rPr lang="sr-Latn-RS" sz="1200" dirty="0"/>
                        <a:t>Ofsajd</a:t>
                      </a:r>
                      <a:endParaRPr lang="hu-H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0.92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0.85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0.88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112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710480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r>
                        <a:rPr lang="sr-Latn-RS" sz="1200" dirty="0"/>
                        <a:t>Karton</a:t>
                      </a:r>
                      <a:endParaRPr lang="hu-H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0.96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0.85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0.85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217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550652"/>
                  </a:ext>
                </a:extLst>
              </a:tr>
              <a:tr h="278623">
                <a:tc>
                  <a:txBody>
                    <a:bodyPr/>
                    <a:lstStyle/>
                    <a:p>
                      <a:r>
                        <a:rPr lang="sr-Latn-RS" sz="1200" dirty="0"/>
                        <a:t>Igra</a:t>
                      </a:r>
                      <a:endParaRPr lang="hu-H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0.85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0.82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1600" dirty="0"/>
                        <a:t>10015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04690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E005953-DFA9-C530-2D0E-D4F7829CE281}"/>
              </a:ext>
            </a:extLst>
          </p:cNvPr>
          <p:cNvSpPr txBox="1"/>
          <p:nvPr/>
        </p:nvSpPr>
        <p:spPr>
          <a:xfrm>
            <a:off x="7749595" y="1655335"/>
            <a:ext cx="4613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800" dirty="0"/>
              <a:t>Trening i </a:t>
            </a:r>
            <a:r>
              <a:rPr lang="sr-Latn-RS" sz="2800" dirty="0" err="1"/>
              <a:t>Validacija</a:t>
            </a:r>
            <a:r>
              <a:rPr lang="sr-Latn-RS" sz="2800" dirty="0"/>
              <a:t> Modela</a:t>
            </a: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623074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192</Words>
  <Application>Microsoft Office PowerPoint</Application>
  <PresentationFormat>Widescreen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 4/2022 - Pap Tamaš</dc:creator>
  <cp:lastModifiedBy>RA 4/2022 - Pap Tamaš</cp:lastModifiedBy>
  <cp:revision>2</cp:revision>
  <dcterms:created xsi:type="dcterms:W3CDTF">2026-02-26T17:27:24Z</dcterms:created>
  <dcterms:modified xsi:type="dcterms:W3CDTF">2026-02-26T18:36:33Z</dcterms:modified>
</cp:coreProperties>
</file>